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</a:rPr>
              <a:t>12:00 · SAI YING PUN · HONG KONG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1887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</a:rPr>
              <a:t>bre:zi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BBDBA"/>
                </a:solidFill>
              </a:rPr>
              <a:t>Brewed for your biology.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521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8C8C"/>
                </a:solidFill>
              </a:rPr>
              <a:t>Venture Capital Pitch Deck  ·  Confidential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C8C8C"/>
                </a:solidFill>
              </a:rPr>
              <a:t>brezicoffee.com  ·  jackson@brezi.com  ·  Hong Kong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325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We Are Not Building
a Coffee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2344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C8C8C"/>
                </a:solidFill>
              </a:rPr>
              <a:t>We are building the operating system for the human morning —
starting with the one ritual that no one has ever optimized.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2344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BBDBA"/>
                </a:solidFill>
              </a:rPr>
              <a:t>"Think Apple HomeKit for wellness — but instead of controlling your lights,
it controls your biology."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75120"/>
            <a:ext cx="1234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C8C"/>
                </a:solidFill>
              </a:rPr>
              <a:t>Cold brew is the entry point.  The protocol is the product.  The data is the moat.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Everything Is Optimized. Except
the First Thing You Consume.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353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📱  Sleep tracked by Oura. Recovery scored by WHOOP. Zone 2 logged by Garmin.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353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🧊  Cold plunges adopted. Morning light protocols set. Supplements sorted.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2336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1353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☕  Yet coffee — the most-repeated morning ritual — is made with tools designed for convenience, not protocol.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1353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❌  No product closes the loop: cold exposure + morning consumption + biometric feedback in one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035040"/>
            <a:ext cx="1353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💡  Cold wellness is a $330M → $660M hardware market. 538M wearables shipped in 2024. The intersection is empty.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Three $B+ Markets Converging.
Brezi Owns the Intersection.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86868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KEY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$87B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514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Wearables market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520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$660M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3520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Cold wellness hardware 2033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526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$40.5B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4526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Coffee consumables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532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5532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Wearable owners with
attached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37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BBDBA"/>
                </a:solidFill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537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Would pay more for
health-related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Three Trends. One Convergence Point.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77724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2011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CONVERGENCE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256032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25603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Cold wellness crossing from sport → daily home practice (81% commercial, 19% residential → flipping)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3520439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3520439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Wearable subscriptions normalized — 32% attach rate, 92% pay more for health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448056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4805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Biohacking mainstream: Huberman Lab 1M+ newsletter · Attia 100M+ podcast downloads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544068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544068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"The Ice Bath Club" (SG/HK) already bundles coffee + cold therapy — the pairing is emergent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640080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64008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Matter protocol + Thread mesh = platform-ready IoT infrastructure available today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325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</a:rPr>
              <a:t>Introducing Brezi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BBDBA"/>
                </a:solidFill>
              </a:rPr>
              <a:t>The Connected Wellness Platform for the Protocol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3383280" cy="502920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Wearables feed biometric state
into Brezi OS via OAuth —
HRV, sleep, recovery, glucose.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743200"/>
            <a:ext cx="3383280" cy="502920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657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BreziIntel determines what
your body needs today and
when. Zero guesswork.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743200"/>
            <a:ext cx="3383280" cy="502920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ACTUATE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57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The right Brezi device triggers
at the right time. Cold brew at 9am.
Smoothie at 1pm. Recovery at 7pm.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2743200"/>
            <a:ext cx="3383280" cy="502920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2880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36576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Every behavior is logged.
Day-over-day comparison.
The system compounds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PLATFORM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One Platform. Every Moment That Matters.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140817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178040"/>
            <a:ext cx="1353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8C8C"/>
                </a:solidFill>
              </a:rPr>
              <a:t>"Brezi doesn't interrupt your day. It runs underneath it."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PRODUCT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 Products. One Platform. One Data Loop.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7498079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PRODUCT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DBA"/>
                </a:solidFill>
              </a:rPr>
              <a:t>Brezi Wake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148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Cold brew machine — the daily ritual 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53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Brezi Adapt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9535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18MO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Adaptogen/nootropic cold extractor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58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Brezi 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75818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18MO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37581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Recovery drink dispenser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5628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Brezi Fuel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5628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18MO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45628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Smart cold nutrition blender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67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C8C8C"/>
                </a:solidFill>
              </a:rPr>
              <a:t>Brezi Lumen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53675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6MO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5367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Circadian light (software-first, Philips Hue API)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172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C8C8C"/>
                </a:solidFill>
              </a:rPr>
              <a:t>Brezi Deep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172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36MO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172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Sleep pad (partner Eight Sleep; own hardware later)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976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BDBA"/>
                </a:solidFill>
              </a:rPr>
              <a:t>Brezi Supply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976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976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Marketplace — Brezi Certified ingredients &amp; supplements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HERO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Brezi Wake — The 12-Minute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🧊  Thermoelectric cold extraction — no ice, no heat, no compromise. Brews at precisely controlled cold temperature.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260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⏱  12 minutes from cold water to concentrate. Long enough to build habit. Short enough to fit any morning.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404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💧  67% less acidic than hot coffee — measurably better for your gut, cortisol response, and HRV stability.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548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📡  NFC cartridge system: every Brezi Certified Protocol Pack is formula-validated and data-encoded ($0.08/unit).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692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🔵  One cold-blue indicator light makes one slow revolution. No notifications. Just the light. Moving.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83680"/>
            <a:ext cx="45720" cy="685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</a:rPr>
              <a:t>💰  Hardware $388–$399  |  Protocol Packs $20–35/month  |  Brezi Supply auto-reorder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371600"/>
            <a:ext cx="4206240" cy="640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5603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1">
                <a:solidFill>
                  <a:srgbClr val="FFFFFF"/>
                </a:solidFill>
              </a:rPr>
              <a:t>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BDBA"/>
                </a:solidFill>
              </a:rPr>
              <a:t>THE BREW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53949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C8C8C"/>
                </a:solidFill>
              </a:rPr>
              <a:t>One revolution.
One cold-blue light.
Your 12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TECHNOLOGY — BREZI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Every Brew Is a Data Event.
Every Event Makes the Next Brew Smarter.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13716000" cy="12801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LAYER 1 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9659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Brezi Wake, Adapt, Restore, Fuel — all on Matter/Thread mesh.
Each device captures: formula NFC, extraction curve, timestamp.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13716000" cy="1280160"/>
          </a:xfrm>
          <a:prstGeom prst="rect">
            <a:avLst/>
          </a:prstGeom>
          <a:solidFill>
            <a:srgbClr val="1A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</a:rPr>
              <a:t>LAYER 2  HEALTH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4747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Brezi ingests biometric context from wearables (HRV, sleep, recovery, glucose).
Links each device event to your biological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3716000" cy="12801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LAYER 3  BREZINTEL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983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On-device + cloud ML surfaces adaptive actuation.
"HRV down 18% — trigger Brezi Wake Recovery Protocol at 07:15."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46519"/>
            <a:ext cx="13716000" cy="12801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LAYER 4  BREZI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64922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Marketplace auto-replenishment. Brezi Certified partners.
15–30% take rate. 70%+ GM on consumables.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DATA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Dataset That Cannot
Be Reverse-Engineered.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13232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TRIPLE 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37744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377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Unique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83464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Biometric state × brew params × 2h outcomes.
No wearable, no coffee brand, no pharma has all three.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56616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35661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NFC cartridge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0233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Clones copy the machine. They cannot copy the data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75488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7548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On-device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21208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Your health data never leaves your device without consent.
Privacy-first architecture.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594360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5943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University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0080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HKUST/HKU partnership → peer-reviewed publications.
Scientific credibility no competitor can buy.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7132320"/>
            <a:ext cx="45720" cy="10058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7132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BDBA"/>
                </a:solidFill>
              </a:rPr>
              <a:t>Patent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75895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Two filings: thermal profiling + biometric-to-thermal mapping.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Everyone Is a Tool OR a Brand.
Nobody Is Both.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8229600" cy="6035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BREZI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4231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Plunge / Ice Barrel: Cold hardware. No daily consumption. No data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4290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Oura / WHOOP: Track your biology. Don't act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4348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Nespresso / Fellow: Premium coffee. Zero wellness framing.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4406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AG1 / Momentous: Protocol nutrition. No hardware anchor.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465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Eight Sleep: Sleep temperature. One device, one use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4523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BDBA"/>
                </a:solidFill>
              </a:rPr>
              <a:t>• bre:zi ✓: Closes all loops. Hardware + platform + data + marketplace.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Four Revenue Streams.
All Compounding.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017520"/>
            <a:ext cx="3383280" cy="466344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$388–$399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Device sales.
Target GM: 40–45%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017520"/>
            <a:ext cx="3383280" cy="466344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PROTOCOL 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611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$20–35/mo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4348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Cartridge subscription.
Nespresso model.
Target GM: 63%+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017520"/>
            <a:ext cx="3383280" cy="466344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BREZI SUPPLY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611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15–30%
take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4348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Certified marketplace.
Momentous, LMNT,
Thesis Nootropics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64240" y="3017520"/>
            <a:ext cx="3383280" cy="466344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01400" y="3154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B2B + 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36118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44348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C8C"/>
                </a:solidFill>
              </a:rPr>
              <a:t>Hotels, gyms,
corporate wellness.
From Month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BREZI SUPPLY —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</a:rPr>
              <a:t>Brezi Certified:
The Nespresso Model for Premium Wellness.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325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Partners formulate for the Brezi platform. Cold-extraction optimized. Biometric protocol matched.
"Brezi Certified" = the MFi for wellness consumables.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4434840" cy="20116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Momentous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17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Leading performance supps.
Protocol Optimizer's brand.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3657600"/>
            <a:ext cx="4434840" cy="20116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6088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LMNT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4617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Electrolytes. Massive following
in exact target demographic.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657600"/>
            <a:ext cx="4434840" cy="20116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85248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Thesis Nootropics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5248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4617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Personalized stacks map
to Brezi OS learning loop.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43600"/>
            <a:ext cx="4434840" cy="20116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</a:rPr>
              <a:t>Beam Dream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6MO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903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Sleep supplement brand.
Evening protocol slot.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5943600"/>
            <a:ext cx="4434840" cy="20116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Brezi 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6492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Own SKU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6903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Morning blend. The
AG1 moment.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5943600"/>
            <a:ext cx="4434840" cy="20116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Brezi 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6492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Own 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6903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Magnesium + L-theanine.
Night formula anchor.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Hardware Opens the Door.
Protocol Packs Own the Room.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3774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Keurig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80.5% of US Coffee net sales ($3.2B of $4B) — consumables ARE the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2918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291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Peloton sub 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490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69.1% vs hardware GM ~13% — the margin wedge that changes the P&amp;L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2062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06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Eight Sleep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63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100% subscription attach year 1 — forced attach, high expectations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51206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120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Target attach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577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40% conservative · 60% strong case at launch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60350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6035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Brezi target GM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92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Protocol Packs: 63%+ · Marketplace: 72%+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6949440"/>
            <a:ext cx="45720" cy="77724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6949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DBA"/>
                </a:solidFill>
              </a:rPr>
              <a:t>18-month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7406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$99K base case (10K units, 50% attach, $25/mo)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REVENUE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18-Month Model — 10,000 Units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93268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BASE CASE (50% attach)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$388–$399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Hardware ASP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227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$25/mo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0" y="3227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Protocol Pack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40325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0" y="40325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Subscription attach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8371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$5.4M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0" y="48371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Total 18-mo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56418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$99K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0" y="56418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MRR at Month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1.6%/mo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0" y="6446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Target monthly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7251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BDBA"/>
                </a:solidFill>
              </a:rPr>
              <a:t>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0" y="7251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</a:rPr>
              <a:t>12-month retention
(Peloton benchmark)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</a:rPr>
              <a:t>Seed 500 Right People in Sai Ying Pun.
Let Them Pull the Brand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4572000" cy="576072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PHASE 1
Days 1–30
~$40K HKD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• Announce university research partnership
• 15–20 Protocol Practitioners seeded
  (coaches, sports med, Hyrox, CrossFit)
• "The Cold Protocol" newsletter — Day 1
• Waitlist page + 90-sec hero film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011680"/>
            <a:ext cx="4572000" cy="5760720"/>
          </a:xfrm>
          <a:prstGeom prst="rect">
            <a:avLst/>
          </a:prstGeom>
          <a:solidFill>
            <a:srgbClr val="1A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488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PHASE 2
Days 31–60
~$120K HKD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2918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Invite-only pop-up, Sai Ying Pun HK
  (200 spots — stone floors, no florals)
• Live Brezi Wake demo + cold plunge station
• Hero film "Start Cold" debut
• Huberman-adjacent podcast ad buy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011680"/>
            <a:ext cx="4572000" cy="5760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488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PHASE 3
Days 61–90
~$80K HKD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32918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30-day Baseline Protocol (not a "challenge")
• First 500 units at $388 USD
• Protocol Packs as post-purchase upsell
• Referral network → 500 becomes 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772400"/>
            <a:ext cx="1371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</a:rPr>
              <a:t>Total: ~$240K HKD (~$30K USD)  ·  KPIs: 2,000 waitlist · 500 paying · 40% Protocol Pack attach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 → 36 Months: Device → Platform → 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0"/>
            <a:ext cx="142646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WEARABLE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Every Device You Already Trust.
Now Connected to Your Morning.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3716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C8C8C"/>
                </a:solidFill>
              </a:rPr>
              <a:t>Cronometer × WHOOP: 300% engagement lift  ·  Strava × Apple Watch: 20% YoY upload increase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</a:rPr>
              <a:t>We Are the Customer.
That Is the Unfair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🎓  Jackson (Founder) — UC Berkeley. First Protocol Optimizer on the cap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🏭  Engineering team from semiconductor + consumer electronics (DJI/Sony tier).
Thermal precision hardware is our DNA.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🏃  Every team member is an active sports and wellness practitioner.
We ship what we test on ourselves.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2179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🔬  University research partnership — HKUST/HKU Medicine — in active discussions.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1031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031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📍  Hong Kong base: Asia's densest high-performance urban cohort.
Our test market is our backyard.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4747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🤝  Graves Ho (Co-Founder): HK market depth, manufacturing network, operations.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8463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8463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💡  Semiconductor background = miniaturized thermoelectric design advantage
that consumer brands cannot easily replicate.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6217920"/>
            <a:ext cx="45720" cy="10972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62179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📊  Phase 1 research complete: 7 interviews + 181 backer surveys.
We know our customer. We have their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Not a Concept.
A Validated Product with Early Signal.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Kickstarter campaign successfully funded — proof of market demand for cold brew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Live Shopify store (brezicoffee.com) + Taobao presence — two-market distribution already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Phase 1 customer research complete: 7 in-depth interviews + 181 backer surveys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iOS technical spec complete · UX copy brief complete · App in active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Roaster partnerships live: Regent Coffee + Stitch Coffee on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Hardware: Thermoelectric cooling IP validated. PrecisionBrew™ technology proven.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9224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✅  Full team assembled: founder + semiconductor engineers +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7315200"/>
            <a:ext cx="45720" cy="64008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7315200"/>
            <a:ext cx="1353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🔄  University research partnership: HKUST / HKU Medicine — in active discussions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BDBA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Join the Protocol.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6675120" cy="5303520"/>
          </a:xfrm>
          <a:prstGeom prst="rect">
            <a:avLst/>
          </a:prstGeom>
          <a:solidFill>
            <a:srgbClr val="121212"/>
          </a:solidFill>
          <a:ln>
            <a:solidFill>
              <a:srgbClr val="2BBD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[RAISE AMOUNT]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C8C8C"/>
                </a:solidFill>
              </a:rPr>
              <a:t>at [VALUATION] 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Complete precision batch — 10,000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6519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iOS app + platform build (3-month sprint)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58384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Cold Protocol GTM Campaign — HK + 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1576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University research partnership + 2 patent filings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447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BreziRest/Adapt R&amp;D initiation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3796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Brezi Supply marketplace MVP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468880"/>
            <a:ext cx="6675120" cy="5303520"/>
          </a:xfrm>
          <a:prstGeom prst="rect">
            <a:avLst/>
          </a:prstGeom>
          <a:solidFill>
            <a:srgbClr val="121212"/>
          </a:solidFill>
          <a:ln>
            <a:solidFill>
              <a:srgbClr val="1A8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6060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BDBA"/>
                </a:solidFill>
              </a:rPr>
              <a:t>TALENT — OPEN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6324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Building the Core Team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947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Senior thermal systems hardware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297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iOS engineer — React Native + HealthKit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0060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Product designer — industrial +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0352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Head of Protocol Community — HK/SG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8064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Research coordinator — university partnership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3093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· Brezi Supply — marketplace partnerships lead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353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Every Dollar Has a Job.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6858000" cy="621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BDBA"/>
                </a:solidFill>
              </a:rPr>
              <a:t>ALLOCATION RATIONALE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42316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423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35%  Hardware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First 10,000-unit precision batch. NFC cartridge tooling. Quality assurance.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520439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5204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25%  App &amp; Platform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776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3-month iOS sprint + backend data infrastructure + Apple HealthKit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61772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617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20%  GTM &amp; 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74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90-day Cold Protocol Campaign. SYP pop-up. Hero film. Podcast media buy.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5715000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715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12%  R&amp;D &amp; Patents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6172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Two patent filings. BreziRest/Adapt R&amp;D. University research seed funding.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6812279"/>
            <a:ext cx="45720" cy="914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68122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</a:rPr>
              <a:t> 8%  Operations &amp;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726947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C8C"/>
                </a:solidFill>
              </a:rPr>
              <a:t>Critical hires. Legal. Corporate structure. HK incorporation.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</a:rPr>
              <a:t>bre:zi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976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BBDBA"/>
                </a:solidFill>
              </a:rPr>
              <a:t>Brewed for your biology.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C8C8C"/>
                </a:solidFill>
              </a:rPr>
              <a:t>"The compound interest of your wellness routine."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C8C8C"/>
                </a:solidFill>
              </a:rPr>
              <a:t>brezicoffee.com  ·  jackson@brezi.com  · 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