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8C8C8C"/>
                </a:solidFill>
                <a:latin typeface="Helvetica Neue"/>
              </a:defRPr>
            </a:pPr>
            <a:r>
              <a:t>SAI YING PUN · HONG KONG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560320"/>
            <a:ext cx="109728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600" b="1">
                <a:solidFill>
                  <a:srgbClr val="FFFFFF"/>
                </a:solidFill>
                <a:latin typeface="Helvetica Neue"/>
              </a:defRPr>
            </a:pPr>
            <a:r>
              <a:t>bre:zi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0">
                <a:solidFill>
                  <a:srgbClr val="2BBDBA"/>
                </a:solidFill>
                <a:latin typeface="Helvetica Neue"/>
              </a:defRPr>
            </a:pPr>
            <a:r>
              <a:t>Brewed for your biology.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94360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8C8C8C"/>
                </a:solidFill>
                <a:latin typeface="Helvetica Neue"/>
              </a:defRPr>
            </a:pPr>
            <a:r>
              <a:t>Investor &amp; Talent Deck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828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2BBDBA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118872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400" b="1">
                <a:solidFill>
                  <a:srgbClr val="FFFFFF"/>
                </a:solidFill>
                <a:latin typeface="Helvetica Neue"/>
              </a:defRPr>
            </a:pPr>
            <a:r>
              <a:t>The World Has Changed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BBDBA"/>
                </a:solidFill>
                <a:latin typeface="Helvetica Neue"/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FFFFFF"/>
                </a:solidFill>
                <a:latin typeface="Helvetica Neue"/>
              </a:defRPr>
            </a:pPr>
            <a:r>
              <a:t>The Protocol Optimizer Exists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5486400" cy="9875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7200" b="1">
                <a:solidFill>
                  <a:srgbClr val="2BBDBA"/>
                </a:solidFill>
                <a:latin typeface="Helvetica Neue"/>
              </a:defRPr>
            </a:pPr>
            <a:r>
              <a:t>538M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65576"/>
            <a:ext cx="548640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8C8C8C"/>
                </a:solidFill>
                <a:latin typeface="Helvetica Neue"/>
              </a:defRPr>
            </a:pPr>
            <a:r>
              <a:t>wearable units shipped in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5486400" cy="82295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6000" b="1">
                <a:solidFill>
                  <a:srgbClr val="FFFFFF"/>
                </a:solidFill>
                <a:latin typeface="Helvetica Neue"/>
              </a:defRPr>
            </a:pPr>
            <a:r>
              <a:t>32%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43500"/>
            <a:ext cx="5486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8C8C8C"/>
                </a:solidFill>
                <a:latin typeface="Helvetica Neue"/>
              </a:defRPr>
            </a:pPr>
            <a:r>
              <a:t>of wearable owners have attached subscriptions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389120"/>
            <a:ext cx="5486400" cy="82295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6000" b="1">
                <a:solidFill>
                  <a:srgbClr val="FFFFFF"/>
                </a:solidFill>
                <a:latin typeface="Helvetica Neue"/>
              </a:defRPr>
            </a:pPr>
            <a:r>
              <a:t>92%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143500"/>
            <a:ext cx="5486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8C8C8C"/>
                </a:solidFill>
                <a:latin typeface="Helvetica Neue"/>
              </a:defRPr>
            </a:pPr>
            <a:r>
              <a:t>would pay more for at least one health 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7132320"/>
            <a:ext cx="12801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8C8C8C"/>
                </a:solidFill>
                <a:latin typeface="Helvetica Neue"/>
              </a:defRPr>
            </a:pPr>
            <a:r>
              <a:t>Source: IDC 2024 / Parks Associates consumer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BBDBA"/>
                </a:solidFill>
                <a:latin typeface="Helvetica Neue"/>
              </a:defRPr>
            </a:pPr>
            <a:r>
              <a:t>TARGET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000000"/>
                </a:solidFill>
                <a:latin typeface="Helvetica Neue"/>
              </a:defRPr>
            </a:pPr>
            <a:r>
              <a:t>Meet the Protocol Optimizer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94560"/>
            <a:ext cx="54864" cy="41148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822960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 Age 27–38 | Urban | HHI $200K+ | Advanced degree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 Owns Oura Ring or WHOOP. Trains Hyrox, Zone 2, or CrossFit 4×/week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 Follows Huberman Lab, Peter Attia. Has read Outlive.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 Spends $400 on the right thing without hesitation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 Healthfulness overtakes price as #1 purchase driver at $100K+ income</a:t>
            </a:r>
          </a:p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 Discovery: Podcast → peer community → purchase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0"/>
            <a:ext cx="73152" cy="27432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2926080"/>
            <a:ext cx="36576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8C8C8C"/>
                </a:solidFill>
                <a:latin typeface="Helvetica Neue"/>
              </a:defRPr>
            </a:pPr>
            <a:r>
              <a:t>At ≥$100K income, healthfulness overtakes price as #1 purchase driver</a:t>
            </a:r>
            <a:br/>
            <a:r>
              <a:t>(IFIC 2024)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BBDBA"/>
                </a:solidFill>
                <a:latin typeface="Helvetica Neue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000000"/>
                </a:solidFill>
                <a:latin typeface="Helvetica Neue"/>
              </a:defRPr>
            </a:pPr>
            <a:r>
              <a:t>Everything Is Optimized.</a:t>
            </a:r>
            <a:br/>
            <a:r>
              <a:t>Except the First Thing They Consume.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54864" cy="45720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188720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 Morning stack: sleep tracker ✓, training plan ✓, cold exposure ✓, supplements ✓, caffeine timing... ✗</a:t>
            </a:r>
          </a:p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 Cold brew is the #1 anchor ritual of this cohort — yet made with tools designed for convenience, not protocol</a:t>
            </a:r>
          </a:p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 No product closes the loop between cold exposure + morning consumption + biometric feedback</a:t>
            </a:r>
          </a:p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 The ritual is fragmented across 4–6 unconnected products</a:t>
            </a:r>
          </a:p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 Cold plunge market: $330M (2024) → $660M by 2033 — and nobody owns the adjacent morning ritual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109728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000" b="0">
                <a:solidFill>
                  <a:srgbClr val="000000"/>
                </a:solidFill>
                <a:latin typeface="Helvetica Neue"/>
              </a:defRPr>
            </a:pPr>
            <a:r>
              <a:t>"Your best days don't happen by accident."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02920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8C8C8C"/>
                </a:solidFill>
                <a:latin typeface="Helvetica Neue"/>
              </a:defRPr>
            </a:pPr>
            <a:r>
              <a:t>— The belief that drives every Protocol Optimizer.</a:t>
            </a:r>
            <a:br/>
            <a:r>
              <a:t>   And every Brezi design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828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2BBDBA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118872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400" b="1">
                <a:solidFill>
                  <a:srgbClr val="FFFFFF"/>
                </a:solidFill>
                <a:latin typeface="Helvetica Neue"/>
              </a:defRPr>
            </a:pPr>
            <a:r>
              <a:t>Introducing bre:zi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BBDBA"/>
                </a:solidFill>
                <a:latin typeface="Helvetica Neue"/>
              </a:defRPr>
            </a:pPr>
            <a: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FFFFFF"/>
                </a:solidFill>
                <a:latin typeface="Helvetica Neue"/>
              </a:defRPr>
            </a:pPr>
            <a:r>
              <a:t>bre:zi — The Cold Protocol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54864" cy="41148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1188720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FFFFFF"/>
                </a:solidFill>
                <a:latin typeface="Helvetica Neue"/>
              </a:defRPr>
            </a:pPr>
            <a:r>
              <a:t>•  PrecisionBrew™: thermoelectric cold extraction in 12 minutes — no ice, no heat, 67% less acidic</a:t>
            </a:r>
          </a:p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FFFFFF"/>
                </a:solidFill>
                <a:latin typeface="Helvetica Neue"/>
              </a:defRPr>
            </a:pPr>
            <a:r>
              <a:t>•  Reads your biometric state before every brew. Adapts the protocol to your body today.</a:t>
            </a:r>
          </a:p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FFFFFF"/>
                </a:solidFill>
                <a:latin typeface="Helvetica Neue"/>
              </a:defRPr>
            </a:pPr>
            <a:r>
              <a:t>•  NFC cartridge system: every Protocol Pack is formula-validated and data-encoded</a:t>
            </a:r>
          </a:p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FFFFFF"/>
                </a:solidFill>
                <a:latin typeface="Helvetica Neue"/>
              </a:defRPr>
            </a:pPr>
            <a:r>
              <a:t>•  Hardware + App + Platform: the first cold wellness instrument that learns your biology</a:t>
            </a:r>
          </a:p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FFFFFF"/>
                </a:solidFill>
                <a:latin typeface="Helvetica Neue"/>
              </a:defRPr>
            </a:pPr>
            <a:r>
              <a:t>•  Price: $388–$399  |  Protocol Packs: $20–35/month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BBDBA"/>
                </a:solidFill>
                <a:latin typeface="Helvetica Neue"/>
              </a:defRPr>
            </a:pPr>
            <a:r>
              <a:t>BRAND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000000"/>
                </a:solidFill>
                <a:latin typeface="Helvetica Neue"/>
              </a:defRPr>
            </a:pPr>
            <a:r>
              <a:t>Object. Ritual. Temperature.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54864" cy="82296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2743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A8A88"/>
                </a:solidFill>
                <a:latin typeface="Helvetica Neue"/>
              </a:defRPr>
            </a:pPr>
            <a:r>
              <a:t>IT LOOKS LIKE: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37744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000000"/>
                </a:solidFill>
                <a:latin typeface="Helvetica Neue"/>
              </a:defRPr>
            </a:pPr>
            <a:r>
              <a:t>Matte anodized aluminum, frosted glass. Camera energy. Watch energy. Not blender energy.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29000"/>
            <a:ext cx="54864" cy="82296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429000"/>
            <a:ext cx="2743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A8A88"/>
                </a:solidFill>
                <a:latin typeface="Helvetica Neue"/>
              </a:defRPr>
            </a:pPr>
            <a:r>
              <a:t>IT FEELS LIKE: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42900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000000"/>
                </a:solidFill>
                <a:latin typeface="Helvetica Neue"/>
              </a:defRPr>
            </a:pPr>
            <a:r>
              <a:t>Protocol calm. 5:47am. Your system initializing. Cold coming. Focus coming.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480560"/>
            <a:ext cx="54864" cy="82296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80560"/>
            <a:ext cx="2743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A8A88"/>
                </a:solidFill>
                <a:latin typeface="Helvetica Neue"/>
              </a:defRPr>
            </a:pPr>
            <a:r>
              <a:t>IT SOUNDS LIKE: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48056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000000"/>
                </a:solidFill>
                <a:latin typeface="Helvetica Neue"/>
              </a:defRPr>
            </a:pPr>
            <a:r>
              <a:t>One soft click when the cycle locks. Then 12 minutes of silence.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532120"/>
            <a:ext cx="54864" cy="82296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532120"/>
            <a:ext cx="2743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A8A88"/>
                </a:solidFill>
                <a:latin typeface="Helvetica Neue"/>
              </a:defRPr>
            </a:pPr>
            <a:r>
              <a:t>IT SITS NEXT TO: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53212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000000"/>
                </a:solidFill>
                <a:latin typeface="Helvetica Neue"/>
              </a:defRPr>
            </a:pPr>
            <a:r>
              <a:t>Your WHOOP. Your Fellow Stagg. Your Oura Ring charger. It passed the shelf test.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583680"/>
            <a:ext cx="54864" cy="82296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6583680"/>
            <a:ext cx="2743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A8A88"/>
                </a:solidFill>
                <a:latin typeface="Helvetica Neue"/>
              </a:defRPr>
            </a:pPr>
            <a:r>
              <a:t>IT IS NOT: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658368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000000"/>
                </a:solidFill>
                <a:latin typeface="Helvetica Neue"/>
              </a:defRPr>
            </a:pPr>
            <a:r>
              <a:t>Wellness in the lavender sense. Not for people who say "self-care." For people who say "protocol."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BBDBA"/>
                </a:solidFill>
                <a:latin typeface="Helvetica Neue"/>
              </a:defRPr>
            </a:pPr>
            <a:r>
              <a:t>THE RITUAL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1">
                <a:solidFill>
                  <a:srgbClr val="FFFFFF"/>
                </a:solidFill>
                <a:latin typeface="Helvetica Neue"/>
              </a:rPr>
              <a:t>12</a:t>
            </a:r>
            <a:r>
              <a:rPr sz="12000" b="1">
                <a:solidFill>
                  <a:srgbClr val="2BBDBA"/>
                </a:solidFill>
                <a:latin typeface="Helvetica Neue"/>
              </a:rPr>
              <a:t>:</a:t>
            </a:r>
            <a:r>
              <a:rPr sz="12000" b="1">
                <a:solidFill>
                  <a:srgbClr val="FFFFFF"/>
                </a:solidFill>
                <a:latin typeface="Helvetica Neue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118872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2800"/>
              </a:lnSpc>
              <a:defRPr sz="1800" b="0">
                <a:solidFill>
                  <a:srgbClr val="FFFFFF"/>
                </a:solidFill>
                <a:latin typeface="Helvetica Neue"/>
              </a:defRPr>
            </a:pPr>
            <a:r>
              <a:t>The brew takes 12 minutes. That is not a limitation — that is the product. A single cold-blue indicator light makes one slow revolution. No progress bar. No notification. Just the light. Moving. Once around in 12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0"/>
            <a:ext cx="11887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0">
                <a:solidFill>
                  <a:srgbClr val="8C8C8C"/>
                </a:solidFill>
                <a:latin typeface="Helvetica Neue"/>
              </a:defRPr>
            </a:pPr>
            <a:r>
              <a:t>The 12-minute window is not a feature. It is the protocol promise made physical.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828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2BBDBA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118872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400" b="1">
                <a:solidFill>
                  <a:srgbClr val="FFFFFF"/>
                </a:solidFill>
                <a:latin typeface="Helvetica Neue"/>
              </a:defRPr>
            </a:pPr>
            <a:r>
              <a:t>Platform &amp; Data Moat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BBDBA"/>
                </a:solidFill>
                <a:latin typeface="Helvetica Neue"/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>
                <a:solidFill>
                  <a:srgbClr val="000000"/>
                </a:solidFill>
                <a:latin typeface="Helvetica Neue"/>
              </a:defRPr>
            </a:pPr>
            <a:r>
              <a:t>Every Brew Is a Data Event.</a:t>
            </a:r>
            <a:br/>
            <a:r>
              <a:t>Every Event Makes the Next Brew Smarter.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926080"/>
            <a:ext cx="54864" cy="32004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017520"/>
            <a:ext cx="4114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A8A88"/>
                </a:solidFill>
                <a:latin typeface="Helvetica Neue"/>
              </a:defRPr>
            </a:pPr>
            <a:r>
              <a:t>DEVICE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566160"/>
            <a:ext cx="41148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defRPr sz="1600" b="0">
                <a:solidFill>
                  <a:srgbClr val="000000"/>
                </a:solidFill>
                <a:latin typeface="Helvetica Neue"/>
              </a:defRPr>
            </a:pPr>
            <a:r>
              <a:t>PrecisionBrew™ captures formula data, extraction curve, timestamp — structured data, every brew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2926080"/>
            <a:ext cx="54864" cy="32004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40680" y="3017520"/>
            <a:ext cx="4114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A8A88"/>
                </a:solidFill>
                <a:latin typeface="Helvetica Neue"/>
              </a:defRPr>
            </a:pPr>
            <a:r>
              <a:t>HEALTH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3566160"/>
            <a:ext cx="41148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defRPr sz="1600" b="0">
                <a:solidFill>
                  <a:srgbClr val="000000"/>
                </a:solidFill>
                <a:latin typeface="Helvetica Neue"/>
              </a:defRPr>
            </a:pPr>
            <a:r>
              <a:t>Links each brew to your biometric state — HRV, sleep score, recovery. Closes the loop with your 2-hour performance log.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2926080"/>
            <a:ext cx="54864" cy="32004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21240" y="3017520"/>
            <a:ext cx="4114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1A8A88"/>
                </a:solidFill>
                <a:latin typeface="Helvetica Neue"/>
              </a:defRPr>
            </a:pPr>
            <a:r>
              <a:t>BREZINTEL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3566160"/>
            <a:ext cx="41148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defRPr sz="1600" b="0">
                <a:solidFill>
                  <a:srgbClr val="000000"/>
                </a:solidFill>
                <a:latin typeface="Helvetica Neue"/>
              </a:defRPr>
            </a:pPr>
            <a:r>
              <a:t>"Your HRV is down 18% — try the Recovery Protocol today." Adaptive. Private. On-device.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BBDBA"/>
                </a:solidFill>
                <a:latin typeface="Helvetica Neue"/>
              </a:defRPr>
            </a:pPr>
            <a:r>
              <a:t>DEFENSIBILITY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FFFFFF"/>
                </a:solidFill>
                <a:latin typeface="Helvetica Neue"/>
              </a:defRPr>
            </a:pPr>
            <a:r>
              <a:t>The Dataset That Cannot Be Reverse-Engineered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6400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600" b="1">
                <a:solidFill>
                  <a:srgbClr val="2BBDBA"/>
                </a:solidFill>
                <a:latin typeface="Helvetica Neue"/>
              </a:defRPr>
            </a:pPr>
            <a:r>
              <a:t>3.65M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6400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8C8C8C"/>
                </a:solidFill>
                <a:latin typeface="Helvetica Neue"/>
              </a:defRPr>
            </a:pPr>
            <a:r>
              <a:t>labeled biometric-brew-outcome events per year at 10K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280160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600"/>
              </a:lnSpc>
              <a:spcAft>
                <a:spcPts val="600"/>
              </a:spcAft>
              <a:defRPr sz="1600">
                <a:solidFill>
                  <a:srgbClr val="FFFFFF"/>
                </a:solidFill>
                <a:latin typeface="Helvetica Neue"/>
              </a:defRPr>
            </a:pPr>
            <a:r>
              <a:t>•  Unique triple: biometric state × brew parameters × 2h subjective performance — no other platform has all three</a:t>
            </a:r>
          </a:p>
          <a:p>
            <a:pPr>
              <a:lnSpc>
                <a:spcPts val="2600"/>
              </a:lnSpc>
              <a:spcAft>
                <a:spcPts val="600"/>
              </a:spcAft>
              <a:defRPr sz="1600">
                <a:solidFill>
                  <a:srgbClr val="FFFFFF"/>
                </a:solidFill>
                <a:latin typeface="Helvetica Neue"/>
              </a:defRPr>
            </a:pPr>
            <a:r>
              <a:t>•  NFC cartridge authentication: clones can copy the machine, not the data layer</a:t>
            </a:r>
          </a:p>
          <a:p>
            <a:pPr>
              <a:lnSpc>
                <a:spcPts val="2600"/>
              </a:lnSpc>
              <a:spcAft>
                <a:spcPts val="600"/>
              </a:spcAft>
              <a:defRPr sz="1600">
                <a:solidFill>
                  <a:srgbClr val="FFFFFF"/>
                </a:solidFill>
                <a:latin typeface="Helvetica Neue"/>
              </a:defRPr>
            </a:pPr>
            <a:r>
              <a:t>•  On-device ML: your health data never leaves your device without consent — privacy-first by architecture</a:t>
            </a:r>
          </a:p>
          <a:p>
            <a:pPr>
              <a:lnSpc>
                <a:spcPts val="2600"/>
              </a:lnSpc>
              <a:spcAft>
                <a:spcPts val="600"/>
              </a:spcAft>
              <a:defRPr sz="1600">
                <a:solidFill>
                  <a:srgbClr val="FFFFFF"/>
                </a:solidFill>
                <a:latin typeface="Helvetica Neue"/>
              </a:defRPr>
            </a:pPr>
            <a:r>
              <a:t>•  University research partnership (HKUST/HKU): peer-reviewed publications validate the dataset scientifically</a:t>
            </a:r>
          </a:p>
          <a:p>
            <a:pPr>
              <a:lnSpc>
                <a:spcPts val="2600"/>
              </a:lnSpc>
              <a:spcAft>
                <a:spcPts val="600"/>
              </a:spcAft>
              <a:defRPr sz="1600">
                <a:solidFill>
                  <a:srgbClr val="FFFFFF"/>
                </a:solidFill>
                <a:latin typeface="Helvetica Neue"/>
              </a:defRPr>
            </a:pPr>
            <a:r>
              <a:t>•  Two patent filings: thermal profiling algorithm + biometric-to-thermal mapping method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BBDBA"/>
                </a:solidFill>
                <a:latin typeface="Helvetica Neue"/>
              </a:defRPr>
            </a:pPr>
            <a:r>
              <a:t>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000" b="1">
                <a:solidFill>
                  <a:srgbClr val="000000"/>
                </a:solidFill>
                <a:latin typeface="Helvetica Neue"/>
              </a:defRPr>
            </a:pPr>
            <a:r>
              <a:t>Every Device You Trust. Now Connected to Your Morning.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54864" cy="32004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3200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A8A88"/>
                </a:solidFill>
                <a:latin typeface="Helvetica Neue"/>
              </a:defRPr>
            </a:pPr>
            <a:r>
              <a:t>PHASE 1 (NOW)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32004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00"/>
              </a:lnSpc>
              <a:defRPr sz="1500" b="0">
                <a:solidFill>
                  <a:srgbClr val="000000"/>
                </a:solidFill>
                <a:latin typeface="Helvetica Neue"/>
              </a:defRPr>
            </a:pPr>
            <a:r>
              <a:t>Apple HealthKit — 1B+ users, zero rate limits, ships Day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2743200"/>
            <a:ext cx="54864" cy="32004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834640"/>
            <a:ext cx="3200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A8A88"/>
                </a:solidFill>
                <a:latin typeface="Helvetica Neue"/>
              </a:defRPr>
            </a:pPr>
            <a:r>
              <a:t>PHASE 2 (Month 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383280"/>
            <a:ext cx="32004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00"/>
              </a:lnSpc>
              <a:defRPr sz="1500" b="0">
                <a:solidFill>
                  <a:srgbClr val="000000"/>
                </a:solidFill>
                <a:latin typeface="Helvetica Neue"/>
              </a:defRPr>
            </a:pPr>
            <a:r>
              <a:t>Oura Ring — best sleep/HRV data, free OAuth2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59" y="2743200"/>
            <a:ext cx="54864" cy="32004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39" y="2834640"/>
            <a:ext cx="3200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A8A88"/>
                </a:solidFill>
                <a:latin typeface="Helvetica Neue"/>
              </a:defRPr>
            </a:pPr>
            <a:r>
              <a:t>PHASE 3 (Month 12)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39" y="3383280"/>
            <a:ext cx="32004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00"/>
              </a:lnSpc>
              <a:defRPr sz="1500" b="0">
                <a:solidFill>
                  <a:srgbClr val="000000"/>
                </a:solidFill>
                <a:latin typeface="Helvetica Neue"/>
              </a:defRPr>
            </a:pPr>
            <a:r>
              <a:t>WHOOP — 300% engagement lift benchmark, recovery protocol users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55680" y="2743200"/>
            <a:ext cx="54864" cy="32004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59" y="2834640"/>
            <a:ext cx="3200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A8A88"/>
                </a:solidFill>
                <a:latin typeface="Helvetica Neue"/>
              </a:defRPr>
            </a:pPr>
            <a:r>
              <a:t>PHASE 4 (Month 18)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59" y="3383280"/>
            <a:ext cx="32004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200"/>
              </a:lnSpc>
              <a:defRPr sz="1500" b="0">
                <a:solidFill>
                  <a:srgbClr val="000000"/>
                </a:solidFill>
                <a:latin typeface="Helvetica Neue"/>
              </a:defRPr>
            </a:pPr>
            <a:r>
              <a:t>Ultrahuman — APAC priority, CGM metabolic data, invite-only partnership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828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2BBDBA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118872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6400" b="1">
                <a:solidFill>
                  <a:srgbClr val="FFFFFF"/>
                </a:solidFill>
                <a:latin typeface="Helvetica Neue"/>
              </a:defRPr>
            </a:pPr>
            <a:r>
              <a:t>Business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BBDBA"/>
                </a:solidFill>
                <a:latin typeface="Helvetica Neue"/>
              </a:defRPr>
            </a:pPr>
            <a:r>
              <a:t>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FFFFFF"/>
                </a:solidFill>
                <a:latin typeface="Helvetica Neue"/>
              </a:defRPr>
            </a:pPr>
            <a:r>
              <a:t>Hardware Opens the Door. Protocol Packs Own the Room.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5486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800" b="1">
                <a:solidFill>
                  <a:srgbClr val="2BBDBA"/>
                </a:solidFill>
                <a:latin typeface="Helvetica Neue"/>
              </a:defRPr>
            </a:pPr>
            <a:r>
              <a:t>$388–$399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8C8C8C"/>
                </a:solidFill>
                <a:latin typeface="Helvetica Neue"/>
              </a:defRPr>
            </a:pPr>
            <a:r>
              <a:t>Hardware ASP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377440"/>
            <a:ext cx="5486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800" b="1">
                <a:solidFill>
                  <a:srgbClr val="2BBDBA"/>
                </a:solidFill>
                <a:latin typeface="Helvetica Neue"/>
              </a:defRPr>
            </a:pPr>
            <a:r>
              <a:t>$20–35/mo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301752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8C8C8C"/>
                </a:solidFill>
                <a:latin typeface="Helvetica Neue"/>
              </a:defRPr>
            </a:pPr>
            <a:r>
              <a:t>Protocol Packs (Keurig: pods = 80.5% of revenue)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5486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800" b="1">
                <a:solidFill>
                  <a:srgbClr val="2BBDBA"/>
                </a:solidFill>
                <a:latin typeface="Helvetica Neue"/>
              </a:defRPr>
            </a:pPr>
            <a:r>
              <a:t>60%+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8C8C8C"/>
                </a:solidFill>
                <a:latin typeface="Helvetica Neue"/>
              </a:defRPr>
            </a:pPr>
            <a:r>
              <a:t>Subscription GM target (Peloton: 69.1%)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840480"/>
            <a:ext cx="5486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800" b="1">
                <a:solidFill>
                  <a:srgbClr val="2BBDBA"/>
                </a:solidFill>
                <a:latin typeface="Helvetica Neue"/>
              </a:defRPr>
            </a:pPr>
            <a:r>
              <a:t>≤1.6%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48056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8C8C8C"/>
                </a:solidFill>
                <a:latin typeface="Helvetica Neue"/>
              </a:defRPr>
            </a:pPr>
            <a:r>
              <a:t>Monthly churn target (Peloton: 82% 12-mo retention)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2801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2BBDBA"/>
                </a:solidFill>
                <a:latin typeface="Helvetica Neue"/>
              </a:defRPr>
            </a:pPr>
            <a:r>
              <a:t>18-MONTH REVENUE MODEL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5303520"/>
          <a:ext cx="12801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BBDBA"/>
                          </a:solidFill>
                          <a:latin typeface="Helvetica Neue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BBDBA"/>
                          </a:solidFill>
                          <a:latin typeface="Helvetica Neue"/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BBDBA"/>
                          </a:solidFill>
                          <a:latin typeface="Helvetica Neue"/>
                        </a:defRPr>
                      </a:pPr>
                      <a:r>
                        <a:t>Attach Rate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BBDBA"/>
                          </a:solidFill>
                          <a:latin typeface="Helvetica Neue"/>
                        </a:defRPr>
                      </a:pPr>
                      <a:r>
                        <a:t>MRR (Mo 18)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BBDBA"/>
                          </a:solidFill>
                          <a:latin typeface="Helvetica Neue"/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Conservative</a:t>
                      </a:r>
                    </a:p>
                  </a:txBody>
                  <a:tcPr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$79.5K</a:t>
                      </a:r>
                    </a:p>
                  </a:txBody>
                  <a:tcPr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$5.1M</a:t>
                      </a:r>
                    </a:p>
                  </a:txBody>
                  <a:tcPr>
                    <a:solidFill>
                      <a:srgbClr val="0D0D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$99.4K</a:t>
                      </a:r>
                    </a:p>
                  </a:txBody>
                  <a:tcPr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$5.6M</a:t>
                      </a:r>
                    </a:p>
                  </a:txBody>
                  <a:tcPr>
                    <a:solidFill>
                      <a:srgbClr val="0D0D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Strong</a:t>
                      </a:r>
                    </a:p>
                  </a:txBody>
                  <a:tcPr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$119.2K</a:t>
                      </a:r>
                    </a:p>
                  </a:txBody>
                  <a:tcPr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$5.65M</a:t>
                      </a:r>
                    </a:p>
                  </a:txBody>
                  <a:tcPr>
                    <a:solidFill>
                      <a:srgbClr val="0D0D0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BBDBA"/>
                </a:solidFill>
                <a:latin typeface="Helvetica Neue"/>
              </a:defRPr>
            </a:pPr>
            <a: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000000"/>
                </a:solidFill>
                <a:latin typeface="Helvetica Neue"/>
              </a:defRPr>
            </a:pPr>
            <a:r>
              <a:t>Built by the People Who Use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54864" cy="45720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11887200" cy="4572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 Jackson (Founder) — UC Berkeley | Product vision | Protocol Optimizer himself</a:t>
            </a:r>
          </a:p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 Graves Ho (Co-Founder) — Operations | HK market | Manufacturing relationships</a:t>
            </a:r>
          </a:p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 Engineering Team — Semiconductor + consumer electronics background (DJI / Sony tier)</a:t>
            </a:r>
          </a:p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 All team members: active sports and wellness practitioners. We are the customer.</a:t>
            </a:r>
          </a:p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 Advisory: University research partner (HKUST/HKU Medicine) — in discussions</a:t>
            </a:r>
          </a:p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000000"/>
                </a:solidFill>
                <a:latin typeface="Helvetica Neue"/>
              </a:defRPr>
            </a:pPr>
            <a:r>
              <a:t>•  Advisory: Industrial design and thermal engineering expertise — assembled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2BBDBA"/>
                </a:solidFill>
                <a:latin typeface="Helvetica Neue"/>
              </a:defRPr>
            </a:pPr>
            <a:r>
              <a:t>JOIN THE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2801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FFFFFF"/>
                </a:solidFill>
                <a:latin typeface="Helvetica Neue"/>
              </a:defRPr>
            </a:pPr>
            <a:r>
              <a:t>What We're Building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BBDBA"/>
                </a:solidFill>
                <a:latin typeface="Helvetica Neue"/>
              </a:defRPr>
            </a:pPr>
            <a:r>
              <a:t>TALENT WE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54864" cy="32004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548640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FFFFFF"/>
                </a:solidFill>
                <a:latin typeface="Helvetica Neue"/>
              </a:defRPr>
            </a:pPr>
            <a:r>
              <a:t>•  Senior thermal systems hardware engineer</a:t>
            </a:r>
          </a:p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FFFFFF"/>
                </a:solidFill>
                <a:latin typeface="Helvetica Neue"/>
              </a:defRPr>
            </a:pPr>
            <a:r>
              <a:t>•  iOS engineer (React Native, health APIs)</a:t>
            </a:r>
          </a:p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FFFFFF"/>
                </a:solidFill>
                <a:latin typeface="Helvetica Neue"/>
              </a:defRPr>
            </a:pPr>
            <a:r>
              <a:t>•  Product designer — industrial + UX</a:t>
            </a:r>
          </a:p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FFFFFF"/>
                </a:solidFill>
                <a:latin typeface="Helvetica Neue"/>
              </a:defRPr>
            </a:pPr>
            <a:r>
              <a:t>•  Performance community builder (HK/SG)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37744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2BBDBA"/>
                </a:solidFill>
                <a:latin typeface="Helvetica Neue"/>
              </a:defRPr>
            </a:pPr>
            <a:r>
              <a:t>CAPITAL WE'RE RAISING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926080"/>
            <a:ext cx="54864" cy="3200400"/>
          </a:xfrm>
          <a:prstGeom prst="rect">
            <a:avLst/>
          </a:prstGeom>
          <a:solidFill>
            <a:srgbClr val="2BB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926080"/>
            <a:ext cx="548640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FFFFFF"/>
                </a:solidFill>
                <a:latin typeface="Helvetica Neue"/>
              </a:defRPr>
            </a:pPr>
            <a:r>
              <a:t>•  18-month runway: precision batch + app build + BreziRest R&amp;D</a:t>
            </a:r>
          </a:p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FFFFFF"/>
                </a:solidFill>
                <a:latin typeface="Helvetica Neue"/>
              </a:defRPr>
            </a:pPr>
            <a:r>
              <a:t>•  GTM: Cold Protocol Campaign ($30K USD seed round)</a:t>
            </a:r>
          </a:p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FFFFFF"/>
                </a:solidFill>
                <a:latin typeface="Helvetica Neue"/>
              </a:defRPr>
            </a:pPr>
            <a:r>
              <a:t>•  Research partnership + IP filings</a:t>
            </a:r>
          </a:p>
          <a:p>
            <a:pPr>
              <a:lnSpc>
                <a:spcPts val="2800"/>
              </a:lnSpc>
              <a:spcAft>
                <a:spcPts val="600"/>
              </a:spcAft>
              <a:defRPr sz="1600">
                <a:solidFill>
                  <a:srgbClr val="FFFFFF"/>
                </a:solidFill>
                <a:latin typeface="Helvetica Neue"/>
              </a:defRPr>
            </a:pPr>
            <a:r>
              <a:t>•  Target: [RAISE AMOUNT] at [VALUATION]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71323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8C8C8C"/>
                </a:solidFill>
                <a:latin typeface="Helvetica Neue"/>
              </a:defRPr>
            </a:pPr>
            <a:r>
              <a:t>brezicoffee.com  |  Jackson Hung  |  jackson@brezi.com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