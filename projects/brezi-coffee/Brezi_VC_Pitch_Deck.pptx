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</a:rPr>
              <a:t>12:00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0" b="1">
                <a:solidFill>
                  <a:srgbClr val="FFFFFF"/>
                </a:solidFill>
              </a:rPr>
              <a:t>bre:zi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029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2BBDBA"/>
                </a:solidFill>
              </a:rPr>
              <a:t>Brewed for your biology.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C8C8C"/>
                </a:solidFill>
              </a:rPr>
              <a:t>Venture Capital Pitch Deck · Confidential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6675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C8C8C"/>
                </a:solidFill>
              </a:rPr>
              <a:t>brezicoffee.com · jackson@brezi.com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BBDBA"/>
                </a:solidFill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BBDBA"/>
                </a:solidFill>
              </a:rPr>
              <a:t>THE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2801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>
                <a:solidFill>
                  <a:srgbClr val="FFFFFF"/>
                </a:solidFill>
              </a:rPr>
              <a:t>We Are Not Building
a Coffee Machine.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8C8C8C"/>
                </a:solidFill>
              </a:rPr>
              <a:t>We are building the operating system for the human morning —
starting with the one ritual no one has optimized yet.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21208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BBDBA"/>
                </a:solidFill>
              </a:rPr>
              <a:t>Cold brew is the entry point.
The protocol is the product.
The data is the moat.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BBDBA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353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0000"/>
                </a:solidFill>
              </a:rPr>
              <a:t>Everything Is Optimized.
Except the First Thing They Consume.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353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📱  Sleep tracked by Oura. Recovery scored by WHOOP. Training logged by Garmin.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80360"/>
            <a:ext cx="1353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🧊  Cold plunges adopted. Morning light protocols running. Zone 2 scheduled.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49039"/>
            <a:ext cx="1353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☕  Yet coffee — the most repeated morning ritual — is made with tools designed for convenience, not protocol.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1353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❌  No product connects cold exposure + morning consumption + biometric feedback in a single loop.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53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📊  Cold plunge market: $330M → $660M by 2033 (8.1% CAGR). 538M wearables shipped in 2024. Nobody owns the intersection.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BBDBA"/>
                </a:solidFill>
              </a:rP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353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0000"/>
                </a:solidFill>
              </a:rPr>
              <a:t>Three $B+ Markets Converging.
Brezi Owns the Intersection.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03120"/>
            <a:ext cx="86868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BBDBA"/>
                </a:solidFill>
              </a:rPr>
              <a:t>KEY SIGNALS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651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BBDBA"/>
                </a:solidFill>
              </a:rPr>
              <a:t>$87B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26517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C8C8C"/>
                </a:solidFill>
              </a:rPr>
              <a:t>Wearables market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3657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BBDBA"/>
                </a:solidFill>
              </a:rPr>
              <a:t>$660M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36576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C8C8C"/>
                </a:solidFill>
              </a:rPr>
              <a:t>Cold wellness hardware 2033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46634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BBDBA"/>
                </a:solidFill>
              </a:rPr>
              <a:t>$40.5B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0" y="4663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C8C8C"/>
                </a:solidFill>
              </a:rPr>
              <a:t>Coffee pod/consumables 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5669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BBDBA"/>
                </a:solidFill>
              </a:rPr>
              <a:t>32%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0" y="56692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C8C8C"/>
                </a:solidFill>
              </a:rPr>
              <a:t>Wearable owners have
an attached subscription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675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BBDBA"/>
                </a:solidFill>
              </a:rPr>
              <a:t>92%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0" y="6675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C8C8C"/>
                </a:solidFill>
              </a:rPr>
              <a:t>Would pay more for
health features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BBDBA"/>
                </a:solidFill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BBDBA"/>
                </a:solidFill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353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Three Trends. One Convergence Point.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0"/>
            <a:ext cx="777240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0" y="2011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BBDBA"/>
                </a:solidFill>
              </a:rPr>
              <a:t>INFLECTION SIGNALS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0" y="2606040"/>
            <a:ext cx="45720" cy="64008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0" y="260604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Cold wellness crossing from sport
into daily home practice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0" y="3520440"/>
            <a:ext cx="45720" cy="64008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0" y="352044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Wearable subscriptions normalized —
32% attach rate (Parks Assoc.)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4434840"/>
            <a:ext cx="45720" cy="64008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0" y="443484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Biohacking cultural mainstream:
Huberman Lab 1M+ newsletter subs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5349240"/>
            <a:ext cx="45720" cy="64008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0" y="534924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"The Ice Bath Club" (SG/HK)
already bundles coffee + cold therapy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6263640"/>
            <a:ext cx="45720" cy="64008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626364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API access to Oura, WHOOP, Apple
Health now mature and open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BBDBA"/>
                </a:solidFill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280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</a:rPr>
              <a:t>Introducing bre:zi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280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2BBDBA"/>
                </a:solidFill>
              </a:rPr>
              <a:t>The Cold Protocol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743200"/>
            <a:ext cx="4297680" cy="4572000"/>
          </a:xfrm>
          <a:prstGeom prst="rect">
            <a:avLst/>
          </a:prstGeom>
          <a:solidFill>
            <a:srgbClr val="141414"/>
          </a:solidFill>
          <a:ln>
            <a:solidFill>
              <a:srgbClr val="2BBD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BBDBA"/>
                </a:solidFill>
              </a:rPr>
              <a:t>READS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3931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Your biometric state.
HRV, sleep score,
recovery index —
before every brew.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79" y="2743200"/>
            <a:ext cx="4297680" cy="4572000"/>
          </a:xfrm>
          <a:prstGeom prst="rect">
            <a:avLst/>
          </a:prstGeom>
          <a:solidFill>
            <a:srgbClr val="141414"/>
          </a:solidFill>
          <a:ln>
            <a:solidFill>
              <a:srgbClr val="2BBD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94959" y="292608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BBDBA"/>
                </a:solidFill>
              </a:rPr>
              <a:t>BREWS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59" y="3657600"/>
            <a:ext cx="3931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PrecisionBrew™.
12 minutes. Cold.
Formula-matched
to your biology today.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875519" y="2743200"/>
            <a:ext cx="4297680" cy="4572000"/>
          </a:xfrm>
          <a:prstGeom prst="rect">
            <a:avLst/>
          </a:prstGeom>
          <a:solidFill>
            <a:srgbClr val="141414"/>
          </a:solidFill>
          <a:ln>
            <a:solidFill>
              <a:srgbClr val="2BBD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399" y="292608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BBDBA"/>
                </a:solidFill>
              </a:rPr>
              <a:t>LEARNS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399" y="3657600"/>
            <a:ext cx="3931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Every session logged.
Every outcome tracked.
The longer you use it,
the smarter it gets.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BBDBA"/>
                </a:solidFill>
              </a:rPr>
              <a:t>THE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353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0000"/>
                </a:solidFill>
              </a:rPr>
              <a:t>PrecisionBrew™ — The 12-Minute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8961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🧊  Thermoelectric cold extraction — no ice, no heat. Brews at controlled cold temperature.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88920"/>
            <a:ext cx="8961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⏱  12 minutes from cold water to perfect cold brew concentrate. The ritual window.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8961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💧  67% less acidic than hot coffee — medically relevant, not just a feature.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26279"/>
            <a:ext cx="8961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📡  NFC cartridge system: every Protocol Pack is formula-validated and data-encoded ($0.08/unit COGS).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394960"/>
            <a:ext cx="8961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📱  Companion app: morning state check-in → brew profile recommendation → 2h outcome log.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63640"/>
            <a:ext cx="8961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💰  Hardware $388–$399 | Protocol Packs $20–35/month subscription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875520" y="1371600"/>
            <a:ext cx="4389120" cy="6400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0" y="274320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</a:rPr>
              <a:t>12:00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47548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BBDBA"/>
                </a:solidFill>
              </a:rPr>
              <a:t>THE BREW WINDOW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539496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C8C8C"/>
                </a:solidFill>
              </a:rPr>
              <a:t>One slow revolution.
One cold-blue indicator light.
Your 12 minutes.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BBDBA"/>
                </a:solidFill>
              </a:rPr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353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0000"/>
                </a:solidFill>
              </a:rPr>
              <a:t>Everyone Is a Tool OR a Brand.
Nobody Is Both.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20240"/>
            <a:ext cx="8046720" cy="5943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0" y="19202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BBDBA"/>
                </a:solidFill>
              </a:rPr>
              <a:t>WHY BREZI WINS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51460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• Cold plunges: own the cold exposure — no daily consumption ritual, no data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356616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• Nespresso: owns the pod system — zero protocol/wellness framing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461772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• Oura / WHOOP: own the biometric data — no ingestible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5669279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• AG1: owns functional nutrition — consumable only, no hardware anchor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672084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BBDBA"/>
                </a:solidFill>
              </a:rPr>
              <a:t>• bre:zi: ✓ Closes all three loops in one morning ritual object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BBDBA"/>
                </a:solidFill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BBDBA"/>
                </a:solidFill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353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Hardware Opens the Door.
Protocol Packs Own the Room.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00400"/>
            <a:ext cx="3291840" cy="4389120"/>
          </a:xfrm>
          <a:prstGeom prst="rect">
            <a:avLst/>
          </a:prstGeom>
          <a:solidFill>
            <a:srgbClr val="121212"/>
          </a:solidFill>
          <a:ln>
            <a:solidFill>
              <a:srgbClr val="2BBD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337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BBDBA"/>
                </a:solidFill>
              </a:rPr>
              <a:t>HARDWARE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84048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$388–$399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754880"/>
            <a:ext cx="3017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C8C8C"/>
                </a:solidFill>
              </a:rPr>
              <a:t>PrecisionBrew™
unit sale.
Target GM: 35–45%</a:t>
            </a:r>
          </a:p>
        </p:txBody>
      </p:sp>
      <p:sp>
        <p:nvSpPr>
          <p:cNvPr id="9" name="Rectangle 8"/>
          <p:cNvSpPr/>
          <p:nvPr/>
        </p:nvSpPr>
        <p:spPr>
          <a:xfrm>
            <a:off x="3977639" y="3200400"/>
            <a:ext cx="3291840" cy="4389120"/>
          </a:xfrm>
          <a:prstGeom prst="rect">
            <a:avLst/>
          </a:prstGeom>
          <a:solidFill>
            <a:srgbClr val="121212"/>
          </a:solidFill>
          <a:ln>
            <a:solidFill>
              <a:srgbClr val="2BBD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3337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BBDBA"/>
                </a:solidFill>
              </a:rPr>
              <a:t>PROTOCOL PACKS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84048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$20–35/mo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4754880"/>
            <a:ext cx="3017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C8C8C"/>
                </a:solidFill>
              </a:rPr>
              <a:t>Cartridge subscription.
Target GM: 60%+
(Peloton benchmark: 69.1%)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3200400"/>
            <a:ext cx="3291840" cy="4389120"/>
          </a:xfrm>
          <a:prstGeom prst="rect">
            <a:avLst/>
          </a:prstGeom>
          <a:solidFill>
            <a:srgbClr val="121212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3337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BBDBA"/>
                </a:solidFill>
              </a:rPr>
              <a:t>B2B / SPACES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384048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Custom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4754880"/>
            <a:ext cx="3017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C8C8C"/>
                </a:solidFill>
              </a:rPr>
              <a:t>Hotels, gyms,
corporate wellness.
Revenue from Month 18+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018520" y="3200400"/>
            <a:ext cx="3291840" cy="4389120"/>
          </a:xfrm>
          <a:prstGeom prst="rect">
            <a:avLst/>
          </a:prstGeom>
          <a:solidFill>
            <a:srgbClr val="121212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0" y="3337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BBDBA"/>
                </a:solidFill>
              </a:rPr>
              <a:t>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384048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TBD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4754880"/>
            <a:ext cx="3017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C8C8C"/>
                </a:solidFill>
              </a:rPr>
              <a:t>Data insights tier,
research partnerships,
BreziIntel premium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BBDBA"/>
                </a:solidFill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353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The Subscription Is the Business.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68580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18288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BBDBA"/>
                </a:solidFill>
              </a:rPr>
              <a:t>BENCHMARKS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2423160"/>
            <a:ext cx="45720" cy="64008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24231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BBDBA"/>
                </a:solidFill>
              </a:rPr>
              <a:t>Keurig pods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83464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80.5% of US Coffee net sales ($3.2B of $4B)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3337560"/>
            <a:ext cx="45720" cy="64008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33375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BBDBA"/>
                </a:solidFill>
              </a:rPr>
              <a:t>Peloton sub GM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3749039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69.1% — hardware GM only ~13%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4251960"/>
            <a:ext cx="45720" cy="64008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42519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BBDBA"/>
                </a:solidFill>
              </a:rPr>
              <a:t>Eight Sleep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466344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100% attach — subscription required yr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5166360"/>
            <a:ext cx="45720" cy="64008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51663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BBDBA"/>
                </a:solidFill>
              </a:rPr>
              <a:t>Peloton churn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557784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1.6%/mo → 82% 12-month retention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6080760"/>
            <a:ext cx="45720" cy="64008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60807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BBDBA"/>
                </a:solidFill>
              </a:rPr>
              <a:t>Target attach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649224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40% conservative | 60% strong case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6995160"/>
            <a:ext cx="45720" cy="64008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79" y="69951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BBDBA"/>
                </a:solidFill>
              </a:rPr>
              <a:t>Protocol Pack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740664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$25/month → $100K MRR at 4,000 subs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BBDBA"/>
                </a:solidFill>
              </a:rPr>
              <a:t>REVENUE PROJECTIONS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353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18-Month Model — 10,000 Units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91440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0" y="18288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BBDBA"/>
                </a:solidFill>
              </a:rPr>
              <a:t>BASE CASE (50% attach)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2423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BBDBA"/>
                </a:solidFill>
              </a:rPr>
              <a:t>$388–399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78640" y="24231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C8C8C"/>
                </a:solidFill>
              </a:rPr>
              <a:t>Hardware ASP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322783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BBDBA"/>
                </a:solidFill>
              </a:rPr>
              <a:t>$25/mo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978640" y="322783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C8C8C"/>
                </a:solidFill>
              </a:rPr>
              <a:t>Protocol Pack price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403250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BBDBA"/>
                </a:solidFill>
              </a:rPr>
              <a:t>50%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78640" y="4032504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C8C8C"/>
                </a:solidFill>
              </a:rPr>
              <a:t>Subscription attach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483717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BBDBA"/>
                </a:solidFill>
              </a:rPr>
              <a:t>$5.4M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978640" y="4837176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C8C8C"/>
                </a:solidFill>
              </a:rPr>
              <a:t>Total 18-month revenue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564184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BBDBA"/>
                </a:solidFill>
              </a:rPr>
              <a:t>$99K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978640" y="564184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C8C8C"/>
                </a:solidFill>
              </a:rPr>
              <a:t>MRR at Month 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46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BBDBA"/>
                </a:solidFill>
              </a:rPr>
              <a:t>1.6%/mo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78640" y="6446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C8C8C"/>
                </a:solidFill>
              </a:rPr>
              <a:t>Target monthly churn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725119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BBDBA"/>
                </a:solidFill>
              </a:rPr>
              <a:t>$399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978640" y="725119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C8C8C"/>
                </a:solidFill>
              </a:rPr>
              <a:t>LTV per sub @ 3yr tenure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BBDBA"/>
                </a:solidFill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BBDBA"/>
                </a:solidFill>
              </a:rPr>
              <a:t>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353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0000"/>
                </a:solidFill>
              </a:rPr>
              <a:t>Seed 500 Right People.
Let Them Pull the Brand Forward.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4480560" cy="576072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148840"/>
            <a:ext cx="4206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</a:rPr>
              <a:t>PHASE 1
Days 1–30
~$40K HKD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291840"/>
            <a:ext cx="4206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• University research partnership announced
• 15–20 Protocol Practitioners seeded (coaches, sports med, Hyrox)
• "The Cold Protocol" newsletter launched
• Waitlist page + 90-sec hero film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0" y="2011680"/>
            <a:ext cx="4480560" cy="5760720"/>
          </a:xfrm>
          <a:prstGeom prst="rect">
            <a:avLst/>
          </a:prstGeom>
          <a:solidFill>
            <a:srgbClr val="1A8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57800" y="2148840"/>
            <a:ext cx="4206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PHASE 2
Days 31–60
~$120K HKD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3291840"/>
            <a:ext cx="4206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Invite-only pop-up, Sai Ying Pun HK (200 spots)
• Cold exposure station + live PrecisionBrew demo
• Hero film "Start Cold" debut
• Podcast ad buy — Huberman-adjacent APAC shows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784080" y="2011680"/>
            <a:ext cx="4480560" cy="5760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21240" y="2148840"/>
            <a:ext cx="4206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PHASE 3
Days 61–90
~$80K HKD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21240" y="3291840"/>
            <a:ext cx="4206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30-day Baseline Protocol — structured cold+brew program
• First 500 units at $388 USD
• Protocol Pack subscription as post-purchase upsell
• Referral mechanic → turn 500 into distribution network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777240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C8C8C"/>
                </a:solidFill>
              </a:rPr>
              <a:t>Total budget: ~$240K HKD (~$30K USD)   |   KPIs: 2,000 waitlist · 500 paying customers · 40% Protocol Pack attach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BBDBA"/>
                </a:solidFill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BBDBA"/>
                </a:solidFill>
              </a:rPr>
              <a:t>PRODUCT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353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0 → 36 Months: Device → Platform → OS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86000"/>
            <a:ext cx="1408176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BBDBA"/>
                </a:solidFill>
              </a:rPr>
              <a:t>WEARABLE INTEGRATIONS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353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Every Device You Already Trust.
Now Connected to Your Morning.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0"/>
            <a:ext cx="137160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C8C8C"/>
                </a:solidFill>
              </a:rPr>
              <a:t>Cronometer × WHOOP integration drove 300% increase in user engagement
Strava × Apple Watch integration drove 20% YoY upload increase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BBDBA"/>
                </a:solidFill>
              </a:rPr>
              <a:t>THE DATA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353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The Dataset That Cannot
Be Reverse-Engineered.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7315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>
                <a:solidFill>
                  <a:srgbClr val="2BBDBA"/>
                </a:solidFill>
              </a:rPr>
              <a:t>3.65M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46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C8C8C"/>
                </a:solidFill>
              </a:rPr>
              <a:t>labeled biometric-brew-outcome events per year at 10,000 users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1920240"/>
            <a:ext cx="45720" cy="100584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0" y="192024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BDBA"/>
                </a:solidFill>
              </a:rPr>
              <a:t>Unique triple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242316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Biometric state × brew parameters × 2h performance outcome — nobody else has all three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3108960"/>
            <a:ext cx="45720" cy="100584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310896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BDBA"/>
                </a:solidFill>
              </a:rPr>
              <a:t>NFC cartridge lock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361188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Clones can copy the machine. They cannot copy the data layer.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4297680"/>
            <a:ext cx="45720" cy="100584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429768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BDBA"/>
                </a:solidFill>
              </a:rPr>
              <a:t>On-device 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80060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Your health data never leaves your device without consent. Privacy-first by architecture.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5486400"/>
            <a:ext cx="45720" cy="100584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548640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BDBA"/>
                </a:solidFill>
              </a:rPr>
              <a:t>University research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598932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HKUST/HKU partnership → peer-reviewed publications → scientific credibility moat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6675120"/>
            <a:ext cx="45720" cy="100584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667512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BDBA"/>
                </a:solidFill>
              </a:rPr>
              <a:t>Patent portfolio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717804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Two filings: thermal profiling algorithm + biometric-to-thermal mapping method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BBDBA"/>
                </a:solidFill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BBDBA"/>
                </a:solidFill>
              </a:rPr>
              <a:t>WHY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353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</a:rPr>
              <a:t>We Are the Customer.
That Is the Unfair Advantage.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68580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🎓  Jackson (Founder) — UC Berkeley. Product-first thinking.
The original Protocol Optimizer.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68580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🏭  Engineering team from semiconductor + consumer electronics
(DJI/Sony tier) — precision hardware is our DNA.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23360"/>
            <a:ext cx="68580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🏃  Every team member is an active sports and wellness practitioner.
We test on ourselves before shipping to anyone.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0"/>
            <a:ext cx="68580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🔬  University research partnership (HKUST/HKU Medicine)
in active discussions — credibility from day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011680"/>
            <a:ext cx="68580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📍  Hong Kong base: Asia's most concentrated
high-performance urban cohort. Our test market is our backyard.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3017520"/>
            <a:ext cx="68580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🤝  Graves Ho (Co-Founder): deep HK market relationships,
manufacturing network, operations.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4023360"/>
            <a:ext cx="68580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💡  Semiconductor background = advantage in miniaturized
thermoelectric design most consumer brands can't match.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5029200"/>
            <a:ext cx="68580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📊  Phase 1 research done: 7 interviews + 181 backer surveys.
We know our customer. We have their data.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BBDBA"/>
                </a:solidFill>
              </a:rPr>
              <a:t>TRACTION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353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Not a Concept.
A Validated Product with Early Signal.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1353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✅  Kickstarter campaign successfully funded — proof of market demand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97480"/>
            <a:ext cx="1353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✅  Live Shopify store (brezicoffee.com) + Taobao presence in China 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0"/>
            <a:ext cx="1353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✅  Phase 1 customer research complete: 7 in-depth interviews + 181 backer surveys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51960"/>
            <a:ext cx="1353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✅  iOS technical spec complete. UX copy brief complete. App in development.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0"/>
            <a:ext cx="1353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✅  Roaster partnerships live: Regent Coffee + Stitch Coffee on brezicoffee.com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806440"/>
            <a:ext cx="1353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✅  Hardware: Thermoelectric cooling IP validated. PrecisionBrew™ tech proven.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83679"/>
            <a:ext cx="1353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✅  Team assembled: founder + semiconductor engineers +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7360920"/>
            <a:ext cx="1353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🔄  University research partnership: in active discussions (HKUST / HKU Medicine)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BBDBA"/>
                </a:solidFill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BBDBA"/>
                </a:solidFill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353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</a:rPr>
              <a:t>Join the Protocol.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560320"/>
            <a:ext cx="6583680" cy="5212080"/>
          </a:xfrm>
          <a:prstGeom prst="rect">
            <a:avLst/>
          </a:prstGeom>
          <a:solidFill>
            <a:srgbClr val="141414"/>
          </a:solidFill>
          <a:ln>
            <a:solidFill>
              <a:srgbClr val="2BBD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BBDBA"/>
                </a:solidFill>
              </a:rPr>
              <a:t>CAPITAL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6217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[RAISE AMOUNT]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C8C8C"/>
                </a:solidFill>
              </a:rPr>
              <a:t>at [VALUATION] pre-money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75488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· Complete precision production batch (10,000 units)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6636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· iOS app + platform dev (3-month sprint)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57784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· Cold Protocol Campaign — HK/SG launch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8932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· University research partnership + IP filings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· BreziRest Pod R&amp;D initiation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0" y="2560320"/>
            <a:ext cx="6583680" cy="5212080"/>
          </a:xfrm>
          <a:prstGeom prst="rect">
            <a:avLst/>
          </a:prstGeom>
          <a:solidFill>
            <a:srgbClr val="141414"/>
          </a:solidFill>
          <a:ln>
            <a:solidFill>
              <a:srgbClr val="1A8A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269748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BBDBA"/>
                </a:solidFill>
              </a:rPr>
              <a:t>TALENT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200400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Roles Open Now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93192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· Senior thermal systems hardware engineer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4480559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· iOS engineer (React Native + HealthKit)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502920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· Product designer — industrial + UX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557784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· Head of community (HK/SG Protocol network)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126479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· Research coordinator — university partnership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BBDBA"/>
                </a:solidFill>
              </a:rPr>
              <a:t>USE OF FUNDS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353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00000"/>
                </a:solidFill>
              </a:rPr>
              <a:t>Every Dollar Has a Job.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6858000" cy="5943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182880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BBDBA"/>
                </a:solidFill>
              </a:rPr>
              <a:t>ALLOCATION RATIONALE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2423160"/>
            <a:ext cx="45720" cy="91440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24231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</a:rPr>
              <a:t>35%  Hardware Production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88036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8C8C"/>
                </a:solidFill>
              </a:rPr>
              <a:t>First 10,000-unit precision batch. NFC cartridge tooling.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3520439"/>
            <a:ext cx="45720" cy="91440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3520439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</a:rPr>
              <a:t>25%  App &amp; Platform Dev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3977639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8C8C"/>
                </a:solidFill>
              </a:rPr>
              <a:t>3-month iOS sprint + backend data infrastructure + Apple Health integration.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4617720"/>
            <a:ext cx="45720" cy="91440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46177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</a:rPr>
              <a:t>20%  GTM &amp; Brand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507492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8C8C"/>
                </a:solidFill>
              </a:rPr>
              <a:t>90-day Cold Protocol Campaign. Pop-up. Hero film. Podcast media.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5715000"/>
            <a:ext cx="45720" cy="91440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57150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</a:rPr>
              <a:t>12%  R&amp;D &amp; Patents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617220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8C8C"/>
                </a:solidFill>
              </a:rPr>
              <a:t>Two patent filings. BreziRest Pod early R&amp;D. University research seed funding.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6812279"/>
            <a:ext cx="45720" cy="91440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6812279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</a:rPr>
              <a:t> 8%  Operations &amp; 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7269479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8C8C"/>
                </a:solidFill>
              </a:rPr>
              <a:t>Hiring critical roles. Legal. Corporate structure in HK.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>
                <a:solidFill>
                  <a:srgbClr val="FFFFFF"/>
                </a:solidFill>
              </a:rPr>
              <a:t>bre:zi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389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BBDBA"/>
                </a:solidFill>
              </a:rPr>
              <a:t>Brewed for your biology.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486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C8C8C"/>
                </a:solidFill>
              </a:rPr>
              <a:t>brezicoffee.com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C8C8C"/>
                </a:solidFill>
              </a:rPr>
              <a:t>jackson@brezi.com  ·  Hong Kong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